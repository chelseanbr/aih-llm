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_LAYOUT">
    <p:bg>
      <p:bgPr>
        <a:solidFill>
          <a:srgbClr val="D3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1198761"/>
            <a:ext cx="6021586" cy="1022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77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LLM Tutorial</a:t>
            </a:r>
            <a:endParaRPr lang="en-US" sz="6772" dirty="0"/>
          </a:p>
        </p:txBody>
      </p:sp>
      <p:sp>
        <p:nvSpPr>
          <p:cNvPr id="4" name="Text 1"/>
          <p:cNvSpPr/>
          <p:nvPr/>
        </p:nvSpPr>
        <p:spPr>
          <a:xfrm>
            <a:off x="749300" y="2344539"/>
            <a:ext cx="2981226" cy="53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2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AI in Healthcare</a:t>
            </a:r>
            <a:endParaRPr lang="en-US" sz="2722" dirty="0"/>
          </a:p>
        </p:txBody>
      </p:sp>
      <p:sp>
        <p:nvSpPr>
          <p:cNvPr id="5" name="Text 2"/>
          <p:cNvSpPr/>
          <p:nvPr/>
        </p:nvSpPr>
        <p:spPr>
          <a:xfrm>
            <a:off x="749300" y="2877939"/>
            <a:ext cx="2417465" cy="53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2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MSAI Spr '25</a:t>
            </a:r>
            <a:endParaRPr lang="en-US" sz="2722" dirty="0"/>
          </a:p>
        </p:txBody>
      </p:sp>
      <p:sp>
        <p:nvSpPr>
          <p:cNvPr id="6" name="Text 3"/>
          <p:cNvSpPr/>
          <p:nvPr/>
        </p:nvSpPr>
        <p:spPr>
          <a:xfrm>
            <a:off x="749300" y="3411339"/>
            <a:ext cx="2915345" cy="53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2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Chelsea Ramos</a:t>
            </a:r>
            <a:endParaRPr lang="en-US" sz="272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0E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2231231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8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Overview</a:t>
            </a:r>
            <a:endParaRPr lang="en-US" sz="3285" dirty="0"/>
          </a:p>
        </p:txBody>
      </p:sp>
      <p:sp>
        <p:nvSpPr>
          <p:cNvPr id="4" name="Text 1"/>
          <p:cNvSpPr/>
          <p:nvPr/>
        </p:nvSpPr>
        <p:spPr>
          <a:xfrm>
            <a:off x="749300" y="1230015"/>
            <a:ext cx="2272109" cy="319811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Healthcare Issue</a:t>
            </a:r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Methods Employed</a:t>
            </a:r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Setting Up</a:t>
            </a:r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Medical Dataset Used</a:t>
            </a:r>
            <a:endParaRPr lang="en-US" sz="1320" dirty="0"/>
          </a:p>
          <a:p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Load Data</a:t>
            </a: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Clean &amp; Merge Data</a:t>
            </a:r>
            <a:endParaRPr lang="en-US" sz="1320" dirty="0"/>
          </a:p>
          <a:p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Prompts Engineered</a:t>
            </a:r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Binary Classification</a:t>
            </a:r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Evaluation of Results</a:t>
            </a:r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Ideas for Improvement</a:t>
            </a:r>
            <a:pPr algn="l" marL="342900" indent="-342900">
              <a:buSzPct val="100000"/>
              <a:buChar char="•"/>
            </a:pPr>
            <a:endParaRPr lang="en-US" sz="1320" dirty="0"/>
          </a:p>
        </p:txBody>
      </p:sp>
      <p:sp>
        <p:nvSpPr>
          <p:cNvPr id="5" name="Text 2"/>
          <p:cNvSpPr/>
          <p:nvPr/>
        </p:nvSpPr>
        <p:spPr>
          <a:xfrm>
            <a:off x="948829" y="2545159"/>
            <a:ext cx="2072580" cy="56782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Load Data</a:t>
            </a:r>
            <a:pPr algn="l" marL="342900" indent="-342900">
              <a:buSzPct val="100000"/>
              <a:buChar char="•"/>
            </a:pPr>
            <a:endParaRPr lang="en-US" sz="1320" dirty="0"/>
          </a:p>
          <a:p>
            <a:pPr algn="l" marL="342900" indent="-342900">
              <a:buSzPct val="100000"/>
              <a:buChar char="•"/>
            </a:pPr>
            <a:r>
              <a:rPr lang="en-US" sz="132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Clean &amp; Merge Data</a:t>
            </a:r>
            <a:pPr algn="l" marL="342900" indent="-342900">
              <a:buSzPct val="100000"/>
              <a:buChar char="•"/>
            </a:pP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EE2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5695950" cy="7302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69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Healthcare Issue</a:t>
            </a:r>
            <a:endParaRPr lang="en-US" sz="4869" dirty="0"/>
          </a:p>
        </p:txBody>
      </p:sp>
      <p:sp>
        <p:nvSpPr>
          <p:cNvPr id="4" name="Text 1"/>
          <p:cNvSpPr/>
          <p:nvPr/>
        </p:nvSpPr>
        <p:spPr>
          <a:xfrm>
            <a:off x="749300" y="1733252"/>
            <a:ext cx="7645400" cy="762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57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Predict whether a patient needs a prediabetes care plan based on demographics and clinical observations.</a:t>
            </a:r>
            <a:endParaRPr lang="en-US" sz="1957" dirty="0"/>
          </a:p>
        </p:txBody>
      </p:sp>
      <p:sp>
        <p:nvSpPr>
          <p:cNvPr id="5" name="Text 2"/>
          <p:cNvSpPr/>
          <p:nvPr/>
        </p:nvSpPr>
        <p:spPr>
          <a:xfrm>
            <a:off x="749300" y="2643088"/>
            <a:ext cx="7645400" cy="179010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957" dirty="0"/>
          </a:p>
          <a:p>
            <a:pPr algn="l" marL="342900" indent="-342900">
              <a:buSzPct val="100000"/>
              <a:buChar char="•"/>
            </a:pPr>
            <a:r>
              <a:rPr lang="en-US" sz="1957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prediabetes care plan can significantly reduce the risk of developing type 2 diabetes.</a:t>
            </a:r>
            <a:pPr algn="l" marL="342900" indent="-342900">
              <a:buSzPct val="100000"/>
              <a:buChar char="•"/>
            </a:pPr>
            <a:endParaRPr lang="en-US" sz="1957" dirty="0"/>
          </a:p>
          <a:p>
            <a:pPr algn="l" marL="342900" indent="-342900">
              <a:buSzPct val="100000"/>
              <a:buChar char="•"/>
            </a:pPr>
            <a:r>
              <a:rPr lang="en-US" sz="1957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Accurate decisions can help save lives and reduce healthcare costs.</a:t>
            </a:r>
            <a:pPr algn="l" marL="342900" indent="-342900">
              <a:buSzPct val="100000"/>
              <a:buChar char="•"/>
            </a:pPr>
            <a:endParaRPr lang="en-US" sz="195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BDE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5742880" cy="635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233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Methods Employed</a:t>
            </a:r>
            <a:endParaRPr lang="en-US" sz="4233" dirty="0"/>
          </a:p>
        </p:txBody>
      </p:sp>
      <p:sp>
        <p:nvSpPr>
          <p:cNvPr id="4" name="Text 1"/>
          <p:cNvSpPr/>
          <p:nvPr/>
        </p:nvSpPr>
        <p:spPr>
          <a:xfrm>
            <a:off x="749300" y="1398588"/>
            <a:ext cx="7645400" cy="285105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Font typeface="+mj-lt"/>
              <a:buAutoNum type="arabicPeriod" startAt="1"/>
            </a:pP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I'll evaluate In-Context Learning methods:</a:t>
            </a: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Zero-Shot Learning (instructions only, no examples)</a:t>
            </a: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Chain-of-Thought (include step-by-step reasoning)</a:t>
            </a: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Few-Shot Learning (include example)</a:t>
            </a: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Tree of Thought (evaluate multiple reasoning paths)</a:t>
            </a: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endParaRPr lang="en-US" sz="1701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Then try Binary Classification w/ embeddings generated via LLM</a:t>
            </a:r>
            <a:pPr algn="l" marL="342900" indent="-342900">
              <a:buSzPct val="100000"/>
              <a:buFont typeface="+mj-lt"/>
              <a:buAutoNum type="arabicPeriod" startAt="1"/>
            </a:pPr>
            <a:endParaRPr lang="en-US" sz="1701" dirty="0"/>
          </a:p>
        </p:txBody>
      </p:sp>
      <p:sp>
        <p:nvSpPr>
          <p:cNvPr id="5" name="Text 2"/>
          <p:cNvSpPr/>
          <p:nvPr/>
        </p:nvSpPr>
        <p:spPr>
          <a:xfrm>
            <a:off x="1199356" y="1882973"/>
            <a:ext cx="7195344" cy="15520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701" dirty="0"/>
          </a:p>
          <a:p>
            <a:pPr algn="l" marL="342900" indent="-342900">
              <a:buSzPct val="100000"/>
              <a:buChar char="•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Zero-Shot Learning (instructions only, no examples)</a:t>
            </a:r>
            <a:pPr algn="l" marL="342900" indent="-342900">
              <a:buSzPct val="100000"/>
              <a:buChar char="•"/>
            </a:pPr>
            <a:endParaRPr lang="en-US" sz="1701" dirty="0"/>
          </a:p>
          <a:p>
            <a:pPr algn="l" marL="342900" indent="-342900">
              <a:buSzPct val="100000"/>
              <a:buChar char="•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Chain-of-Thought (include step-by-step reasoning)</a:t>
            </a:r>
            <a:pPr algn="l" marL="342900" indent="-342900">
              <a:buSzPct val="100000"/>
              <a:buChar char="•"/>
            </a:pPr>
            <a:endParaRPr lang="en-US" sz="1701" dirty="0"/>
          </a:p>
          <a:p>
            <a:pPr algn="l" marL="342900" indent="-342900">
              <a:buSzPct val="100000"/>
              <a:buChar char="•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Few-Shot Learning (include example)</a:t>
            </a:r>
            <a:pPr algn="l" marL="342900" indent="-342900">
              <a:buSzPct val="100000"/>
              <a:buChar char="•"/>
            </a:pPr>
            <a:endParaRPr lang="en-US" sz="1701" dirty="0"/>
          </a:p>
          <a:p>
            <a:pPr algn="l" marL="342900" indent="-342900">
              <a:buSzPct val="100000"/>
              <a:buChar char="•"/>
            </a:pPr>
            <a:r>
              <a:rPr lang="en-US" sz="1701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Tree of Thought (evaluate multiple reasoning paths)</a:t>
            </a:r>
            <a:pPr algn="l" marL="342900" indent="-342900">
              <a:buSzPct val="100000"/>
              <a:buChar char="•"/>
            </a:pPr>
            <a:endParaRPr lang="en-US" sz="170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D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4365129" cy="876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817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Setting Up</a:t>
            </a:r>
            <a:endParaRPr lang="en-US" sz="5817" dirty="0"/>
          </a:p>
        </p:txBody>
      </p:sp>
      <p:sp>
        <p:nvSpPr>
          <p:cNvPr id="4" name="Text 1"/>
          <p:cNvSpPr/>
          <p:nvPr/>
        </p:nvSpPr>
        <p:spPr>
          <a:xfrm>
            <a:off x="749300" y="1951037"/>
            <a:ext cx="59127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338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Model: </a:t>
            </a:r>
            <a:pPr algn="l" indent="0" marL="0">
              <a:buNone/>
            </a:pPr>
            <a:r>
              <a:rPr lang="en-US" sz="2338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SmolLM2</a:t>
            </a:r>
            <a:pPr algn="l" indent="0" marL="0">
              <a:buNone/>
            </a:pPr>
            <a:r>
              <a:rPr lang="en-US" sz="2338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from Hugging Face</a:t>
            </a:r>
            <a:endParaRPr lang="en-US" sz="2338" dirty="0"/>
          </a:p>
        </p:txBody>
      </p:sp>
      <p:pic>
        <p:nvPicPr>
          <p:cNvPr id="5" name="Image 0" descr="iapresenter:///Users/chelsearamos/Library/Containers/net.ia.presenter/Data/Library/Application%20Support/PRESENTER_TEMP/C191ADE3-F60A-4AFA-93C0-65308993CB38-91775-0000012BAEA15398/assets/Screenshot%202025-04-09%20at%206.50.42%E2%80%AFPM.png">    </p:cNvPr>
          <p:cNvPicPr>
            <a:picLocks noChangeAspect="1"/>
          </p:cNvPicPr>
          <p:nvPr/>
        </p:nvPicPr>
        <p:blipFill>
          <a:blip r:embed="rId1"/>
          <a:srcRect l="-50653" r="-50653" t="0" b="0"/>
          <a:stretch/>
        </p:blipFill>
        <p:spPr>
          <a:xfrm>
            <a:off x="749300" y="2584946"/>
            <a:ext cx="7645400" cy="19235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AD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5557143" cy="5397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59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Medical Dataset Used</a:t>
            </a:r>
            <a:endParaRPr lang="en-US" sz="3596" dirty="0"/>
          </a:p>
        </p:txBody>
      </p:sp>
      <p:sp>
        <p:nvSpPr>
          <p:cNvPr id="4" name="Text 1"/>
          <p:cNvSpPr/>
          <p:nvPr/>
        </p:nvSpPr>
        <p:spPr>
          <a:xfrm>
            <a:off x="749300" y="1283990"/>
            <a:ext cx="7645400" cy="3038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Publicly available synthesized data (7 MB of data with 100 patients)
Tables used (3):
patients
observations
careplans
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Download Latest Version of Synthea: 100 Sample Synthetic Patient Records, CSV: 7 MB from https://synthea.mitre.org/downloads</a:t>
            </a:r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Save and unzip your downloaded synthea_sample_data_csv_latest.zip to a data path you can access via this notebook.</a:t>
            </a:r>
            <a:pPr algn="l" marL="342900" indent="-342900">
              <a:buSzPct val="100000"/>
              <a:buChar char="•"/>
            </a:pPr>
            <a:endParaRPr lang="en-US" sz="1445" dirty="0"/>
          </a:p>
        </p:txBody>
      </p:sp>
      <p:sp>
        <p:nvSpPr>
          <p:cNvPr id="5" name="Text 2"/>
          <p:cNvSpPr/>
          <p:nvPr/>
        </p:nvSpPr>
        <p:spPr>
          <a:xfrm>
            <a:off x="967780" y="1694359"/>
            <a:ext cx="7426920" cy="13140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Tables used (3):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patients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observations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careplans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</p:txBody>
      </p:sp>
      <p:sp>
        <p:nvSpPr>
          <p:cNvPr id="6" name="Text 3"/>
          <p:cNvSpPr/>
          <p:nvPr/>
        </p:nvSpPr>
        <p:spPr>
          <a:xfrm>
            <a:off x="1186259" y="2039243"/>
            <a:ext cx="7208441" cy="96916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patients</a:t>
            </a:r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observations</a:t>
            </a:r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careplans</a:t>
            </a:r>
            <a:pPr algn="l" marL="342900" indent="-342900">
              <a:buSzPct val="100000"/>
              <a:buChar char="•"/>
            </a:pPr>
            <a:endParaRPr lang="en-US" sz="144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CD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381000"/>
            <a:ext cx="1922066" cy="53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2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Load Data</a:t>
            </a:r>
            <a:endParaRPr lang="en-US" sz="2722" dirty="0"/>
          </a:p>
        </p:txBody>
      </p:sp>
      <p:pic>
        <p:nvPicPr>
          <p:cNvPr id="4" name="Image 0" descr="iapresenter:///Users/chelsearamos/Library/Containers/net.ia.presenter/Data/Library/Application%20Support/PRESENTER_TEMP/C191ADE3-F60A-4AFA-93C0-65308993CB38-91775-0000012BAEA15398/assets/Screenshot%202025-04-09%20at%202.59.36%E2%80%AFPM.png">    </p:cNvPr>
          <p:cNvPicPr>
            <a:picLocks noChangeAspect="1"/>
          </p:cNvPicPr>
          <p:nvPr/>
        </p:nvPicPr>
        <p:blipFill>
          <a:blip r:embed="rId1"/>
          <a:srcRect l="0" r="0" t="-7909" b="-7909"/>
          <a:stretch/>
        </p:blipFill>
        <p:spPr>
          <a:xfrm>
            <a:off x="381000" y="1120080"/>
            <a:ext cx="4095750" cy="3642420"/>
          </a:xfrm>
          <a:prstGeom prst="rect">
            <a:avLst/>
          </a:prstGeom>
        </p:spPr>
      </p:pic>
      <p:pic>
        <p:nvPicPr>
          <p:cNvPr id="5" name="Image 1" descr="iapresenter:///Users/chelsearamos/Library/Containers/net.ia.presenter/Data/Library/Application%20Support/PRESENTER_TEMP/C191ADE3-F60A-4AFA-93C0-65308993CB38-91775-0000012BAEA15398/assets/Screenshot%202025-04-09%20at%203.00.58%E2%80%AFPM.png">    </p:cNvPr>
          <p:cNvPicPr>
            <a:picLocks noChangeAspect="1"/>
          </p:cNvPicPr>
          <p:nvPr/>
        </p:nvPicPr>
        <p:blipFill>
          <a:blip r:embed="rId2"/>
          <a:srcRect l="-72455" r="-72455" t="0" b="0"/>
          <a:stretch/>
        </p:blipFill>
        <p:spPr>
          <a:xfrm>
            <a:off x="4667250" y="1120080"/>
            <a:ext cx="4095750" cy="3642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ED8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381000"/>
            <a:ext cx="4705350" cy="53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2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Clean &amp; Merge Data Pt. 1</a:t>
            </a:r>
            <a:endParaRPr lang="en-US" sz="2722" dirty="0"/>
          </a:p>
        </p:txBody>
      </p:sp>
      <p:pic>
        <p:nvPicPr>
          <p:cNvPr id="4" name="Image 0" descr="iapresenter:///Users/chelsearamos/Library/Containers/net.ia.presenter/Data/Library/Application%20Support/PRESENTER_TEMP/C191ADE3-F60A-4AFA-93C0-65308993CB38-91775-0000012BAEA15398/assets/Screenshot%202025-04-09%20at%203.08.08%E2%80%AFPM.png">    </p:cNvPr>
          <p:cNvPicPr>
            <a:picLocks noChangeAspect="1"/>
          </p:cNvPicPr>
          <p:nvPr/>
        </p:nvPicPr>
        <p:blipFill>
          <a:blip r:embed="rId1"/>
          <a:srcRect l="0" r="0" t="-19379" b="-19379"/>
          <a:stretch/>
        </p:blipFill>
        <p:spPr>
          <a:xfrm>
            <a:off x="381000" y="1120080"/>
            <a:ext cx="4095750" cy="3642420"/>
          </a:xfrm>
          <a:prstGeom prst="rect">
            <a:avLst/>
          </a:prstGeom>
        </p:spPr>
      </p:pic>
      <p:pic>
        <p:nvPicPr>
          <p:cNvPr id="5" name="Image 1" descr="iapresenter:///Users/chelsearamos/Library/Containers/net.ia.presenter/Data/Library/Application%20Support/PRESENTER_TEMP/C191ADE3-F60A-4AFA-93C0-65308993CB38-91775-0000012BAEA15398/assets/Screenshot%202025-04-09%20at%203.09.16%E2%80%AFPM.png">    </p:cNvPr>
          <p:cNvPicPr>
            <a:picLocks noChangeAspect="1"/>
          </p:cNvPicPr>
          <p:nvPr/>
        </p:nvPicPr>
        <p:blipFill>
          <a:blip r:embed="rId2"/>
          <a:srcRect l="0" r="0" t="-7210" b="-7210"/>
          <a:stretch/>
        </p:blipFill>
        <p:spPr>
          <a:xfrm>
            <a:off x="4667250" y="1120080"/>
            <a:ext cx="4095750" cy="3642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0D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381000"/>
            <a:ext cx="4816872" cy="53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2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Clean &amp; Merge Data Pt. 2</a:t>
            </a:r>
            <a:endParaRPr lang="en-US" sz="2722" dirty="0"/>
          </a:p>
        </p:txBody>
      </p:sp>
      <p:pic>
        <p:nvPicPr>
          <p:cNvPr id="4" name="Image 0" descr="iapresenter:///Users/chelsearamos/Library/Containers/net.ia.presenter/Data/Library/Application%20Support/PRESENTER_TEMP/C191ADE3-F60A-4AFA-93C0-65308993CB38-91775-0000012BAEA15398/assets/Screenshot%202025-04-09%20at%203.09.55%E2%80%AFPM.png">    </p:cNvPr>
          <p:cNvPicPr>
            <a:picLocks noChangeAspect="1"/>
          </p:cNvPicPr>
          <p:nvPr/>
        </p:nvPicPr>
        <p:blipFill>
          <a:blip r:embed="rId1"/>
          <a:srcRect l="0" r="0" t="-8219" b="-8219"/>
          <a:stretch/>
        </p:blipFill>
        <p:spPr>
          <a:xfrm>
            <a:off x="381000" y="1120080"/>
            <a:ext cx="4095750" cy="3642420"/>
          </a:xfrm>
          <a:prstGeom prst="rect">
            <a:avLst/>
          </a:prstGeom>
        </p:spPr>
      </p:pic>
      <p:pic>
        <p:nvPicPr>
          <p:cNvPr id="5" name="Image 1" descr="iapresenter:///Users/chelsearamos/Library/Containers/net.ia.presenter/Data/Library/Application%20Support/PRESENTER_TEMP/C191ADE3-F60A-4AFA-93C0-65308993CB38-91775-0000012BAEA15398/assets/Screenshot%202025-04-09%20at%203.10.45%E2%80%AFPM.png">    </p:cNvPr>
          <p:cNvPicPr>
            <a:picLocks noChangeAspect="1"/>
          </p:cNvPicPr>
          <p:nvPr/>
        </p:nvPicPr>
        <p:blipFill>
          <a:blip r:embed="rId2"/>
          <a:srcRect l="0" r="0" t="-808" b="-808"/>
          <a:stretch/>
        </p:blipFill>
        <p:spPr>
          <a:xfrm>
            <a:off x="4667250" y="1120080"/>
            <a:ext cx="4095750" cy="3642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3D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1549400"/>
            <a:ext cx="7645400" cy="2044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77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Prompts Engineered</a:t>
            </a:r>
            <a:endParaRPr lang="en-US" sz="677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6D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7645400" cy="1066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2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Patient #1 - Needs Prediabetes Care Plan</a:t>
            </a:r>
            <a:endParaRPr lang="en-US" sz="2722" dirty="0"/>
          </a:p>
        </p:txBody>
      </p:sp>
      <p:pic>
        <p:nvPicPr>
          <p:cNvPr id="4" name="Image 0" descr="iapresenter:///Users/chelsearamos/Library/Containers/net.ia.presenter/Data/Library/Application%20Support/PRESENTER_TEMP/C191ADE3-F60A-4AFA-93C0-65308993CB38-91775-0000012BAEA15398/assets/Screenshot%202025-04-09%20at%207.04.49%E2%80%AFPM.png">    </p:cNvPr>
          <p:cNvPicPr>
            <a:picLocks noChangeAspect="1"/>
          </p:cNvPicPr>
          <p:nvPr/>
        </p:nvPicPr>
        <p:blipFill>
          <a:blip r:embed="rId1"/>
          <a:srcRect l="-29988" r="-29988" t="0" b="0"/>
          <a:stretch/>
        </p:blipFill>
        <p:spPr>
          <a:xfrm>
            <a:off x="749300" y="1873250"/>
            <a:ext cx="7645400" cy="2635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D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923627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Zero-Shot Learning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749300" y="819745"/>
            <a:ext cx="7645400" cy="45814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 developed a simple question based on Patient #1's data: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Response: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No, the patient does not require a prediabetes care plan.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This was incorrect.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</p:txBody>
      </p:sp>
      <p:sp>
        <p:nvSpPr>
          <p:cNvPr id="5" name="Text 2"/>
          <p:cNvSpPr/>
          <p:nvPr/>
        </p:nvSpPr>
        <p:spPr>
          <a:xfrm>
            <a:off x="852091" y="896838"/>
            <a:ext cx="7542609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 developed a simple question based on Patient #1's data:</a:t>
            </a:r>
            <a:endParaRPr lang="en-US" sz="680" dirty="0"/>
          </a:p>
        </p:txBody>
      </p:sp>
      <p:pic>
        <p:nvPicPr>
          <p:cNvPr id="6" name="Image 0" descr="iapresenter:///Users/chelsearamos/Library/Containers/net.ia.presenter/Data/Library/Application%20Support/PRESENTER_TEMP/C191ADE3-F60A-4AFA-93C0-65308993CB38-91775-0000012BAEA15398/assets/Screenshot%202025-04-09%20at%207.06.04%E2%80%AFPM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852091" y="1107281"/>
            <a:ext cx="7542609" cy="3665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2091" y="4849614"/>
            <a:ext cx="7542609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Response:</a:t>
            </a:r>
            <a:endParaRPr lang="en-US" sz="680" dirty="0"/>
          </a:p>
        </p:txBody>
      </p:sp>
      <p:sp>
        <p:nvSpPr>
          <p:cNvPr id="8" name="Text 4"/>
          <p:cNvSpPr/>
          <p:nvPr/>
        </p:nvSpPr>
        <p:spPr>
          <a:xfrm>
            <a:off x="852091" y="5236964"/>
            <a:ext cx="7542609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This was incorrect.</a:t>
            </a:r>
            <a:pPr algn="l" marL="342900" indent="-342900">
              <a:buSzPct val="100000"/>
              <a:buChar char="•"/>
            </a:pP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D4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250616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Chain-of-Thought: Prompting</a:t>
            </a:r>
            <a:endParaRPr lang="en-US" sz="1192" dirty="0"/>
          </a:p>
        </p:txBody>
      </p:sp>
      <p:sp>
        <p:nvSpPr>
          <p:cNvPr id="4" name="Text 1"/>
          <p:cNvSpPr/>
          <p:nvPr/>
        </p:nvSpPr>
        <p:spPr>
          <a:xfrm>
            <a:off x="749300" y="953691"/>
            <a:ext cx="7645400" cy="3534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This time, I asked to "think first" and include reasoning for CoT: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prompt1 = f"""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Think first and explain your reasoning on whether a patient requires a prediabetes care plan or not. Then, give a final decision.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patient has the following information: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{patient1_info}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"""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endParaRPr lang="en-US" sz="1192" dirty="0"/>
          </a:p>
          <a:p>
            <a:pPr algn="l" marL="342900" indent="-342900">
              <a:buSzPct val="100000"/>
              <a:buChar char="•"/>
            </a:pP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messages = [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{"role": "system", 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"content": "You are a doctor and an expert on deciding if a patient requires a prediabetes care plan or not."},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{"role": "user", 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"content": prompt1},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]</a:t>
            </a:r>
            <a:endParaRPr lang="en-US" sz="1192" dirty="0"/>
          </a:p>
          <a:p>
            <a:pPr algn="l" marL="342900" indent="-342900">
              <a:buSzPct val="100000"/>
              <a:buChar char="•"/>
            </a:pPr>
            <a:endParaRPr lang="en-US" sz="1192" dirty="0"/>
          </a:p>
        </p:txBody>
      </p:sp>
      <p:sp>
        <p:nvSpPr>
          <p:cNvPr id="5" name="Text 2"/>
          <p:cNvSpPr/>
          <p:nvPr/>
        </p:nvSpPr>
        <p:spPr>
          <a:xfrm>
            <a:off x="929481" y="1088827"/>
            <a:ext cx="7465219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This time, I asked to "think first" and include reasoning for CoT:</a:t>
            </a:r>
            <a:endParaRPr lang="en-US" sz="1192" dirty="0"/>
          </a:p>
        </p:txBody>
      </p:sp>
      <p:sp>
        <p:nvSpPr>
          <p:cNvPr id="6" name="Text 3"/>
          <p:cNvSpPr/>
          <p:nvPr/>
        </p:nvSpPr>
        <p:spPr>
          <a:xfrm>
            <a:off x="929481" y="1452563"/>
            <a:ext cx="7465219" cy="1389459"/>
          </a:xfrm>
          <a:prstGeom prst="roundRect">
            <a:avLst>
              <a:gd name="adj" fmla="val 1828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43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prompt1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</a:t>
            </a:r>
            <a:pPr algn="l" indent="0" marL="0">
              <a:buNone/>
            </a:pPr>
            <a:r>
              <a:rPr lang="en-US" sz="1043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 first and explain your reasoning on whether a patient requires a prediabetes care plan or not. Then, give a final decision.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patient has the following information: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{patient1_info}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043" dirty="0"/>
          </a:p>
          <a:p>
            <a:pPr algn="l" indent="0" marL="0">
              <a:buNone/>
            </a:pPr>
            <a:endParaRPr lang="en-US" sz="1043" dirty="0"/>
          </a:p>
        </p:txBody>
      </p:sp>
      <p:sp>
        <p:nvSpPr>
          <p:cNvPr id="7" name="Text 4"/>
          <p:cNvSpPr/>
          <p:nvPr/>
        </p:nvSpPr>
        <p:spPr>
          <a:xfrm>
            <a:off x="929481" y="2842022"/>
            <a:ext cx="7465219" cy="1592659"/>
          </a:xfrm>
          <a:prstGeom prst="roundRect">
            <a:avLst>
              <a:gd name="adj" fmla="val 1595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043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043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doctor and an expert on deciding if a patient requires a prediabetes care plan or not."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1043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prompt1},</a:t>
            </a:r>
            <a:endParaRPr lang="en-US" sz="1043" dirty="0"/>
          </a:p>
          <a:p>
            <a:pPr algn="l" indent="0" marL="0">
              <a:buNone/>
            </a:pPr>
            <a:r>
              <a:rPr lang="en-US" sz="1043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4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FD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2178943" cy="20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64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Chain-of-Thought: Response</a:t>
            </a:r>
            <a:endParaRPr lang="en-US" sz="1064" dirty="0"/>
          </a:p>
        </p:txBody>
      </p:sp>
      <p:sp>
        <p:nvSpPr>
          <p:cNvPr id="4" name="Text 1"/>
          <p:cNvSpPr/>
          <p:nvPr/>
        </p:nvSpPr>
        <p:spPr>
          <a:xfrm>
            <a:off x="749300" y="918567"/>
            <a:ext cx="7645400" cy="2873177"/>
          </a:xfrm>
          <a:prstGeom prst="roundRect">
            <a:avLst>
              <a:gd name="adj" fmla="val 884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the patient's information, I would recommend that they require a prediabetes care plan. The patient's high income, high expenses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covered,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BMI indicate that they may be at risk for developing prediabetes. Prediabetes is a condition where the body's blood sugar levels are higher than normal, but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enough to be classified as diabetes. This condition increases the risk of developing type 2 diabetes, heart disease,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health problems.</a:t>
            </a:r>
            <a:endParaRPr lang="en-US" sz="776" dirty="0"/>
          </a:p>
          <a:p>
            <a:pPr algn="l" indent="0" marL="0">
              <a:buNone/>
            </a:pPr>
            <a:endParaRPr lang="en-US" sz="776" dirty="0"/>
          </a:p>
          <a:p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patient's high cholesterol levels, high triglycerides,</a:t>
            </a:r>
            <a:endParaRPr lang="en-US" sz="776" dirty="0"/>
          </a:p>
          <a:p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blood pressure also suggest that they may be at risk for developing these conditions. A prediabetes care plan would focus on managing these conditions through lifestyle changes, such as diet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exercise,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potentially medication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necessary.</a:t>
            </a:r>
            <a:endParaRPr lang="en-US" sz="776" dirty="0"/>
          </a:p>
          <a:p>
            <a:pPr algn="l" indent="0" marL="0">
              <a:buNone/>
            </a:pPr>
            <a:endParaRPr lang="en-US" sz="776" dirty="0"/>
          </a:p>
          <a:p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Additionally, the patient's age (34 years old)</a:t>
            </a:r>
            <a:endParaRPr lang="en-US" sz="776" dirty="0"/>
          </a:p>
          <a:p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(female) may also indicate that they are at higher risk for developing prediabetes. Prediabetes is more common in women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older adults,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estimated that up to 1 in 4 women may develop prediabetes by the age of 65.</a:t>
            </a:r>
            <a:endParaRPr lang="en-US" sz="776" dirty="0"/>
          </a:p>
          <a:p>
            <a:pPr algn="l" indent="0" marL="0">
              <a:buNone/>
            </a:pPr>
            <a:endParaRPr lang="en-US" sz="776" dirty="0"/>
          </a:p>
          <a:p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these factors, a prediabetes care plan would be recommended for this patient. This plan would aim to help them manage their cholesterol, triglycerides,</a:t>
            </a:r>
            <a:endParaRPr lang="en-US" sz="776" dirty="0"/>
          </a:p>
          <a:p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blood pressure,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maintain a healthy weight through a combination of diet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exercise. It would also include regular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check-ups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monitor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their progress</a:t>
            </a:r>
            <a:pPr algn="l" indent="0" marL="0">
              <a:buNone/>
            </a:pPr>
            <a:r>
              <a:rPr lang="en-US" sz="776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and </a:t>
            </a:r>
            <a:pPr algn="l" indent="0" marL="0">
              <a:buNone/>
            </a:pPr>
            <a:r>
              <a:rPr lang="en-US" sz="776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 their plan as needed.</a:t>
            </a:r>
            <a:endParaRPr lang="en-US" sz="776" dirty="0"/>
          </a:p>
        </p:txBody>
      </p:sp>
      <p:sp>
        <p:nvSpPr>
          <p:cNvPr id="5" name="Text 2"/>
          <p:cNvSpPr/>
          <p:nvPr/>
        </p:nvSpPr>
        <p:spPr>
          <a:xfrm>
            <a:off x="749300" y="3850382"/>
            <a:ext cx="5867102" cy="5510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064" dirty="0"/>
          </a:p>
          <a:p>
            <a:pPr algn="l" marL="342900" indent="-342900">
              <a:buSzPct val="100000"/>
              <a:buChar char="•"/>
            </a:pPr>
            <a:r>
              <a:rPr lang="en-US" sz="1064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CoT helped to get to the correct conclusion!</a:t>
            </a:r>
            <a:pPr algn="l" marL="342900" indent="-342900">
              <a:buSzPct val="100000"/>
              <a:buChar char="•"/>
            </a:pPr>
            <a:endParaRPr lang="en-US" sz="1064" dirty="0"/>
          </a:p>
          <a:p>
            <a:pPr algn="l" marL="342900" indent="-342900">
              <a:buSzPct val="100000"/>
              <a:buChar char="•"/>
            </a:pPr>
            <a:r>
              <a:rPr lang="en-US" sz="1064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However, a lot of statements were made that may not be true (hallucinations)</a:t>
            </a:r>
            <a:pPr algn="l" marL="342900" indent="-342900">
              <a:buSzPct val="100000"/>
              <a:buChar char="•"/>
            </a:pPr>
            <a:endParaRPr lang="en-US" sz="106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1D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2273598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Patient #2 - Prediabetes Care Plan Not Needed</a:t>
            </a:r>
            <a:endParaRPr lang="en-US" sz="680" dirty="0"/>
          </a:p>
        </p:txBody>
      </p:sp>
      <p:pic>
        <p:nvPicPr>
          <p:cNvPr id="4" name="Image 0" descr="iapresenter:///Users/chelsearamos/Library/Containers/net.ia.presenter/Data/Library/Application%20Support/PRESENTER_TEMP/C191ADE3-F60A-4AFA-93C0-65308993CB38-91775-0000012BAEA15398/assets/Screenshot%202025-04-09%20at%207.15.35%E2%80%AFPM.png">    </p:cNvPr>
          <p:cNvPicPr>
            <a:picLocks noChangeAspect="1"/>
          </p:cNvPicPr>
          <p:nvPr/>
        </p:nvPicPr>
        <p:blipFill>
          <a:blip r:embed="rId1"/>
          <a:srcRect l="-16811" r="-16811" t="0" b="0"/>
          <a:stretch/>
        </p:blipFill>
        <p:spPr>
          <a:xfrm>
            <a:off x="749300" y="819745"/>
            <a:ext cx="7645400" cy="21962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300" y="3058815"/>
            <a:ext cx="7479605" cy="1449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Next, I developed a prompt for Patient #2: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patient2_info = """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They are married, white, nonhispanic, female, 33 years old, not high income, and have expenses covered,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Triglycerides 128.0 mg/dL, Hemoglobin A1c/Hemoglobin.total in Blood 6.2%, and Body mass index (BMI) [Ratio] 28.3 kg/m2.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"""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prompt2 = f"""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Think first and explain your reasoning on whether a patient requires a prediabetes care plan or not. Then, give a final decision.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The patient has the following information: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{patient2_info}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"""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</p:txBody>
      </p:sp>
      <p:sp>
        <p:nvSpPr>
          <p:cNvPr id="6" name="Text 2"/>
          <p:cNvSpPr/>
          <p:nvPr/>
        </p:nvSpPr>
        <p:spPr>
          <a:xfrm>
            <a:off x="852091" y="3135908"/>
            <a:ext cx="7376815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Next, I developed a prompt for Patient #2:</a:t>
            </a:r>
            <a:endParaRPr lang="en-US" sz="680" dirty="0"/>
          </a:p>
        </p:txBody>
      </p:sp>
      <p:sp>
        <p:nvSpPr>
          <p:cNvPr id="7" name="Text 3"/>
          <p:cNvSpPr/>
          <p:nvPr/>
        </p:nvSpPr>
        <p:spPr>
          <a:xfrm>
            <a:off x="852091" y="3346351"/>
            <a:ext cx="7376815" cy="1131292"/>
          </a:xfrm>
          <a:prstGeom prst="roundRect">
            <a:avLst>
              <a:gd name="adj" fmla="val 2245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patient2_info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They are married, white, nonhispanic, female, 33 years old, not high income, and have expenses covered,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Triglycerides 128.0 mg/dL, Hemoglobin A1c/Hemoglobin.total in Blood 6.2%, and Body mass index (BMI) [Ratio] 28.3 kg/m2.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595" dirty="0"/>
          </a:p>
          <a:p>
            <a:pPr algn="l" indent="0" marL="0">
              <a:buNone/>
            </a:pP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prompt2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Think first and explain your reasoning on whether a patient requires a prediabetes care plan or not. Then, give a final decision.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 patient has the following information: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{patient2_info}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595" dirty="0"/>
          </a:p>
          <a:p>
            <a:pPr algn="l" indent="0" marL="0">
              <a:buNone/>
            </a:pPr>
            <a:endParaRPr lang="en-US" sz="59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9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3367484" cy="177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Chain-of-Thought + Few-Shot Learning: Prompting</a:t>
            </a:r>
            <a:endParaRPr lang="en-US" sz="936" dirty="0"/>
          </a:p>
        </p:txBody>
      </p:sp>
      <p:sp>
        <p:nvSpPr>
          <p:cNvPr id="4" name="Text 1"/>
          <p:cNvSpPr/>
          <p:nvPr/>
        </p:nvSpPr>
        <p:spPr>
          <a:xfrm>
            <a:off x="749300" y="883543"/>
            <a:ext cx="7645400" cy="343267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Continuing the CoT conversation w/ Patient #1 (prompt1), I provided an example response1: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response1 = """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1. Triglycerides 125.4 mg/dL is within the normal range (less than 150 mg/dL).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2. Hemoglobin A1c/Hemoglobin.total in Blood 6.0% is between 5.7% to 6.4%, which is considered prediabetes.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3. Body mass index (BMI) [Ratio] 30.1 kg/m2 is considered obese (BMI &gt;= 30).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Based on the patient's information, I would recommend that they require a prediabetes care plan.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"""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messages = [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{"role": "system", 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"content": "You are a doctor and an expert on deciding if a patient requires a prediabetes care plan or not."},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{"role": "user", 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"content": prompt1},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{"role": "assistant", "content": response1},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{"role": "user", 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"content": prompt2},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]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890786" y="989608"/>
            <a:ext cx="7503914" cy="1841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Continuing the CoT conversation w/ Patient #1 (</a:t>
            </a:r>
            <a:pPr algn="l" indent="0" marL="0">
              <a:buNone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prompt1</a:t>
            </a:r>
            <a:pPr algn="l" indent="0" marL="0">
              <a:buNone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), I provided an example </a:t>
            </a:r>
            <a:pPr algn="l" indent="0" marL="0">
              <a:buNone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response1</a:t>
            </a:r>
            <a:pPr algn="l" indent="0" marL="0">
              <a:buNone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: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890786" y="1279823"/>
            <a:ext cx="7503914" cy="2994025"/>
          </a:xfrm>
          <a:prstGeom prst="roundRect">
            <a:avLst>
              <a:gd name="adj" fmla="val 848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19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response1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1. Triglycerides 125.4 mg/dL is within the normal range (less than 150 mg/dL).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2. Hemoglobin A1c/Hemoglobin.total in Blood 6.0% is between 5.7% to 6.4%, which is considered prediabetes.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3. Body mass index (BMI) [Ratio] 30.1 kg/m2 is considered obese (BMI &gt;= 30).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Based on the patient's information, I would recommend that they require a prediabetes care plan.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819" dirty="0"/>
          </a:p>
          <a:p>
            <a:pPr algn="l" indent="0" marL="0">
              <a:buNone/>
            </a:pP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doctor and an expert on deciding if a patient requires a prediabetes care plan or not."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prompt1},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"assistant"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response1},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prompt2},</a:t>
            </a:r>
            <a:endParaRPr lang="en-US" sz="819" dirty="0"/>
          </a:p>
          <a:p>
            <a:pPr algn="l" indent="0" marL="0">
              <a:buNone/>
            </a:pPr>
            <a:r>
              <a:rPr lang="en-US" sz="81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81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D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5572026" cy="30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73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Chain-of-Thought + Few-Shot Learning: Response</a:t>
            </a:r>
            <a:endParaRPr lang="en-US" sz="1573" dirty="0"/>
          </a:p>
        </p:txBody>
      </p:sp>
      <p:sp>
        <p:nvSpPr>
          <p:cNvPr id="4" name="Text 1"/>
          <p:cNvSpPr/>
          <p:nvPr/>
        </p:nvSpPr>
        <p:spPr>
          <a:xfrm>
            <a:off x="749300" y="1058664"/>
            <a:ext cx="7645400" cy="1963936"/>
          </a:xfrm>
          <a:prstGeom prst="roundRect">
            <a:avLst>
              <a:gd name="adj" fmla="val 1293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47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Triglycerides 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mg/dL is within the normal range (less than 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mg/dL).</a:t>
            </a:r>
            <a:endParaRPr lang="en-US" sz="1147" dirty="0"/>
          </a:p>
          <a:p>
            <a:pPr algn="l" indent="0" marL="0">
              <a:buNone/>
            </a:pPr>
            <a:r>
              <a:rPr lang="en-US" sz="1147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Hemoglobin A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c/Hemoglobin.total in Blood 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is between 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to 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buNone/>
            </a:pPr>
            <a:r>
              <a:rPr lang="en-US" sz="1147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%, which is considered prediabetes.</a:t>
            </a:r>
            <a:endParaRPr lang="en-US" sz="1147" dirty="0"/>
          </a:p>
          <a:p>
            <a:pPr algn="l" indent="0" marL="0">
              <a:buNone/>
            </a:pPr>
            <a:r>
              <a:rPr lang="en-US" sz="1147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buNone/>
            </a:pPr>
            <a:r>
              <a:rPr lang="en-US" sz="1147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Body mass index (BMI)</a:t>
            </a:r>
            <a:pPr algn="l" indent="0" marL="0">
              <a:buNone/>
            </a:pPr>
            <a:r>
              <a:rPr lang="en-US" sz="1147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[Ratio] 28.3 kg/m2 is considered normal (BMI &gt;= 25).</a:t>
            </a:r>
            <a:endParaRPr lang="en-US" sz="1147" dirty="0"/>
          </a:p>
          <a:p>
            <a:pPr algn="l" indent="0" marL="0">
              <a:buNone/>
            </a:pPr>
            <a:r>
              <a:rPr lang="en-US" sz="1147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the patient's information, I would recommend that they require a prediabetes care plan.</a:t>
            </a:r>
            <a:endParaRPr lang="en-US" sz="1147" dirty="0"/>
          </a:p>
        </p:txBody>
      </p:sp>
      <p:sp>
        <p:nvSpPr>
          <p:cNvPr id="5" name="Text 2"/>
          <p:cNvSpPr/>
          <p:nvPr/>
        </p:nvSpPr>
        <p:spPr>
          <a:xfrm>
            <a:off x="749300" y="3109218"/>
            <a:ext cx="7645400" cy="11284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573" dirty="0"/>
          </a:p>
          <a:p>
            <a:pPr algn="l" marL="342900" indent="-342900">
              <a:buSzPct val="100000"/>
              <a:buChar char="•"/>
            </a:pPr>
            <a:r>
              <a:rPr lang="en-US" sz="1573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This conclusion was incorrect, but Few-Shot Learning helped to improve the structure of the response greatly!</a:t>
            </a:r>
            <a:pPr algn="l" marL="342900" indent="-342900">
              <a:buSzPct val="100000"/>
              <a:buChar char="•"/>
            </a:pPr>
            <a:endParaRPr lang="en-US" sz="1573" dirty="0"/>
          </a:p>
          <a:p>
            <a:pPr algn="l" marL="342900" indent="-342900">
              <a:buSzPct val="100000"/>
              <a:buChar char="•"/>
            </a:pPr>
            <a:r>
              <a:rPr lang="en-US" sz="1573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Good structure helps eliminate hallucinations</a:t>
            </a:r>
            <a:pPr algn="l" marL="342900" indent="-342900">
              <a:buSzPct val="100000"/>
              <a:buChar char="•"/>
            </a:pPr>
            <a:endParaRPr lang="en-US" sz="157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7D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1311374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Tree of Thought: Prompting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749300" y="819745"/>
            <a:ext cx="6615311" cy="31641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Last, I asked to consider multiple reasoning paths for ToT: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# Prompt engineered w/ the help of ChatGPT 4o: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prompt3 = f"""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Task: Decide if a patient needs a prediabetes care plan.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Step 1: Generate 3 possible reasoning paths.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Option A: ...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Option B: ...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Option C: ...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Step 2: Evaluate each option for correctness and relevance.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Evaluation: ...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Step 3: Select or combine the best option.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Final Answer: ...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The patient has the following information: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{patient2_info}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"""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messages = [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# {"role": "system", 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# "content": "You are a doctor and an expert on deciding if a patient requires a prediabetes care plan or not."},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{"role": "user", 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   "content": prompt3},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]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</p:txBody>
      </p:sp>
      <p:sp>
        <p:nvSpPr>
          <p:cNvPr id="5" name="Text 2"/>
          <p:cNvSpPr/>
          <p:nvPr/>
        </p:nvSpPr>
        <p:spPr>
          <a:xfrm>
            <a:off x="852091" y="896838"/>
            <a:ext cx="6512520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Last, I asked to consider multiple reasoning paths for ToT: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852091" y="1107281"/>
            <a:ext cx="6512520" cy="2845792"/>
          </a:xfrm>
          <a:prstGeom prst="roundRect">
            <a:avLst>
              <a:gd name="adj" fmla="val 893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95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 engineered w/ the help of ChatGPT 4o:</a:t>
            </a:r>
            <a:pPr algn="l" indent="0" marL="0">
              <a:buNone/>
            </a:pP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prompt3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Task: Decide if a patient needs a prediabetes care plan.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 1: Generate 3 possible reasoning paths.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 A: ...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 B: ...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 C: ...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 2: Evaluate each option for correctness and relevance.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Evaluation: ...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 3: Select or combine the best option.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Answer: ...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 patient has the following information: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{patient2_info}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595" dirty="0"/>
          </a:p>
          <a:p>
            <a:pPr algn="l" indent="0" marL="0">
              <a:buNone/>
            </a:pP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{"role": "system", </a:t>
            </a:r>
            <a:pPr algn="l" indent="0" marL="0">
              <a:buNone/>
            </a:pP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9EA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"content": "You are a doctor and an expert on deciding if a patient requires a prediabetes care plan or not."},</a:t>
            </a:r>
            <a:pPr algn="l" indent="0" marL="0">
              <a:buNone/>
            </a:pP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prompt3},</a:t>
            </a:r>
            <a:endParaRPr lang="en-US" sz="595" dirty="0"/>
          </a:p>
          <a:p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59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7D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2232223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Tree of Thought: Response</a:t>
            </a:r>
            <a:endParaRPr lang="en-US" sz="1192" dirty="0"/>
          </a:p>
        </p:txBody>
      </p:sp>
      <p:sp>
        <p:nvSpPr>
          <p:cNvPr id="4" name="Text 1"/>
          <p:cNvSpPr/>
          <p:nvPr/>
        </p:nvSpPr>
        <p:spPr>
          <a:xfrm>
            <a:off x="749300" y="953691"/>
            <a:ext cx="7645400" cy="2785666"/>
          </a:xfrm>
          <a:prstGeom prst="roundRect">
            <a:avLst>
              <a:gd name="adj" fmla="val 912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A: The patient does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 care plan.</a:t>
            </a:r>
            <a:endParaRPr lang="en-US" sz="869" dirty="0"/>
          </a:p>
          <a:p>
            <a:pPr algn="l" indent="0" marL="0">
              <a:buNone/>
            </a:pP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Reasoning: The patient has </a:t>
            </a: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healthy lifestyle, no high-risk factors,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high-income. These factors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indicate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 care plan.</a:t>
            </a:r>
            <a:endParaRPr lang="en-US" sz="869" dirty="0"/>
          </a:p>
          <a:p>
            <a:pPr algn="l" indent="0" marL="0">
              <a:buNone/>
            </a:pP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B: The patient needs </a:t>
            </a: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 care plan.</a:t>
            </a:r>
            <a:endParaRPr lang="en-US" sz="869" dirty="0"/>
          </a:p>
          <a:p>
            <a:pPr algn="l" indent="0" marL="0">
              <a:buNone/>
            </a:pP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Reasoning: The patient has high triglycerides, high blood sugar, </a:t>
            </a: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high BMI, which are all risk factors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prediabetes. These factors indicate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 care plan.</a:t>
            </a:r>
            <a:endParaRPr lang="en-US" sz="869" dirty="0"/>
          </a:p>
          <a:p>
            <a:pPr algn="l" indent="0" marL="0">
              <a:buNone/>
            </a:pP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C: The patient does </a:t>
            </a: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 care plan.</a:t>
            </a:r>
            <a:endParaRPr lang="en-US" sz="869" dirty="0"/>
          </a:p>
          <a:p>
            <a:pPr algn="l" indent="0" marL="0">
              <a:buNone/>
            </a:pP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Reasoning: The patient has </a:t>
            </a: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healthy lifestyle, no high-risk factors,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high-income. These factors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indicate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 care plan.</a:t>
            </a:r>
            <a:endParaRPr lang="en-US" sz="869" dirty="0"/>
          </a:p>
          <a:p>
            <a:pPr algn="l" indent="0" marL="0">
              <a:buNone/>
            </a:pP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The patient does </a:t>
            </a:r>
            <a:endParaRPr lang="en-US" sz="869" dirty="0"/>
          </a:p>
          <a:p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</a:t>
            </a:r>
            <a:pPr algn="l" indent="0" marL="0">
              <a:buNone/>
            </a:pPr>
            <a:r>
              <a:rPr lang="en-US" sz="869" b="1" dirty="0">
                <a:solidFill>
                  <a:srgbClr val="8C3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buNone/>
            </a:pPr>
            <a:r>
              <a:rPr lang="en-US" sz="869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prediabetes care plan.</a:t>
            </a:r>
            <a:endParaRPr lang="en-US" sz="869" dirty="0"/>
          </a:p>
        </p:txBody>
      </p:sp>
      <p:sp>
        <p:nvSpPr>
          <p:cNvPr id="5" name="Text 2"/>
          <p:cNvSpPr/>
          <p:nvPr/>
        </p:nvSpPr>
        <p:spPr>
          <a:xfrm>
            <a:off x="749300" y="3805039"/>
            <a:ext cx="3662958" cy="61912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correct conclusion was reached!</a:t>
            </a:r>
            <a:pPr algn="l" marL="342900" indent="-342900">
              <a:buSzPct val="100000"/>
              <a:buChar char="•"/>
            </a:pPr>
            <a:endParaRPr lang="en-US" sz="1192" dirty="0"/>
          </a:p>
          <a:p>
            <a:pPr algn="l" marL="342900" indent="-342900">
              <a:buSzPct val="100000"/>
              <a:buChar char="•"/>
            </a:pPr>
            <a:r>
              <a:rPr lang="en-US" sz="119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ToT helped more than CoT for this patient</a:t>
            </a:r>
            <a:pPr algn="l" marL="342900" indent="-342900">
              <a:buSzPct val="100000"/>
              <a:buChar char="•"/>
            </a:pPr>
            <a:endParaRPr lang="en-US" sz="119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7D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70520"/>
            <a:ext cx="7645400" cy="1943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454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Binary Classification</a:t>
            </a:r>
            <a:endParaRPr lang="en-US" sz="6454" dirty="0"/>
          </a:p>
        </p:txBody>
      </p:sp>
      <p:sp>
        <p:nvSpPr>
          <p:cNvPr id="4" name="Text 1"/>
          <p:cNvSpPr/>
          <p:nvPr/>
        </p:nvSpPr>
        <p:spPr>
          <a:xfrm>
            <a:off x="749300" y="2694880"/>
            <a:ext cx="7645400" cy="177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378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Using embeddings generated via LLM</a:t>
            </a:r>
            <a:endParaRPr lang="en-US" sz="537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7D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381000"/>
            <a:ext cx="1308497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Generating Texts from Data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381000" y="565745"/>
            <a:ext cx="8382000" cy="98608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For modeling, we need text embeddings</a:t>
            </a:r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First, data must become texts:
MARITAL: W, RACE: white, ETHNICITY: nonhispanic, GENDER: M, expenses_covered: True, high_income: False, age: 48, Hemoglobin A1c/Hemoglobin.total in Blood: 2.9 %, Body mass index (BMI) [Ratio]: 29.4 kg/m2, Triglycerides: 132.0 mg/dL
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</p:txBody>
      </p:sp>
      <p:sp>
        <p:nvSpPr>
          <p:cNvPr id="5" name="Text 2"/>
          <p:cNvSpPr/>
          <p:nvPr/>
        </p:nvSpPr>
        <p:spPr>
          <a:xfrm>
            <a:off x="483791" y="807045"/>
            <a:ext cx="8279209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First, data must become texts: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483791" y="1017488"/>
            <a:ext cx="8279209" cy="331192"/>
          </a:xfrm>
          <a:prstGeom prst="roundRect">
            <a:avLst>
              <a:gd name="adj" fmla="val 7669"/>
            </a:avLst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MARITAL: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ETHNICITY: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nonhispanic,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expenses_covered: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DB6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high_income: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DB65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Hemoglobin A1c/Hemoglobin.total in Blood: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(BMI)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29.4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kg/m2,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468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Triglycerides: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A58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132.0</a:t>
            </a:r>
            <a:pPr algn="l" indent="0" marL="0">
              <a:buNone/>
            </a:pPr>
            <a:r>
              <a:rPr lang="en-US" sz="595" b="1" dirty="0">
                <a:solidFill>
                  <a:srgbClr val="303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buNone/>
            </a:pPr>
            <a:r>
              <a:rPr lang="en-US" sz="595" b="1" dirty="0">
                <a:solidFill>
                  <a:srgbClr val="695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mg/dL</a:t>
            </a:r>
            <a:pPr algn="l" indent="0" marL="0">
              <a:buNone/>
            </a:pPr>
            <a:endParaRPr lang="en-US" sz="595" dirty="0"/>
          </a:p>
        </p:txBody>
      </p:sp>
      <p:pic>
        <p:nvPicPr>
          <p:cNvPr id="7" name="Image 0" descr="iapresenter:///Users/chelsearamos/Library/Containers/net.ia.presenter/Data/Library/Application%20Support/PRESENTER_TEMP/C191ADE3-F60A-4AFA-93C0-65308993CB38-91775-0000012BAEA15398/assets/Screenshot%202025-04-09%20at%208.50.02%E2%80%AF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3791" y="1348680"/>
            <a:ext cx="8279209" cy="4582319"/>
          </a:xfrm>
          <a:prstGeom prst="rect">
            <a:avLst/>
          </a:prstGeom>
        </p:spPr>
      </p:pic>
      <p:pic>
        <p:nvPicPr>
          <p:cNvPr id="8" name="Image 1" descr="iapresenter:///Users/chelsearamos/Library/Containers/net.ia.presenter/Data/Library/Application%20Support/PRESENTER_TEMP/C191ADE3-F60A-4AFA-93C0-65308993CB38-91775-0000012BAEA15398/assets/Screenshot%202025-04-09%20at%208.51.31%E2%80%AFPM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483791" y="5930999"/>
            <a:ext cx="8279209" cy="44647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D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381000"/>
            <a:ext cx="1681559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Generating Embeddings from Texts</a:t>
            </a:r>
            <a:endParaRPr lang="en-US" sz="680" dirty="0"/>
          </a:p>
        </p:txBody>
      </p:sp>
      <p:sp>
        <p:nvSpPr>
          <p:cNvPr id="4" name="Text 1"/>
          <p:cNvSpPr/>
          <p:nvPr/>
        </p:nvSpPr>
        <p:spPr>
          <a:xfrm>
            <a:off x="381000" y="565745"/>
            <a:ext cx="6427391" cy="73414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680" dirty="0"/>
          </a:p>
          <a:p>
            <a:pPr algn="l" marL="342900" indent="-342900">
              <a:buSzPct val="100000"/>
              <a:buChar char="•"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Now, embeddings can be generated from texts
</a:t>
            </a:r>
            <a:endParaRPr lang="en-US" sz="680" dirty="0"/>
          </a:p>
          <a:p>
            <a:pPr algn="l" marL="342900" indent="-342900">
              <a:buSzPct val="100000"/>
              <a:buChar char="•"/>
            </a:pPr>
            <a:endParaRPr lang="en-US" sz="680" dirty="0"/>
          </a:p>
        </p:txBody>
      </p:sp>
      <p:sp>
        <p:nvSpPr>
          <p:cNvPr id="5" name="Text 2"/>
          <p:cNvSpPr/>
          <p:nvPr/>
        </p:nvSpPr>
        <p:spPr>
          <a:xfrm>
            <a:off x="483791" y="642838"/>
            <a:ext cx="6324600" cy="133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Now, embeddings can be generated from texts</a:t>
            </a:r>
            <a:endParaRPr lang="en-US" sz="680" dirty="0"/>
          </a:p>
        </p:txBody>
      </p:sp>
      <p:pic>
        <p:nvPicPr>
          <p:cNvPr id="6" name="Image 0" descr="iapresenter:///Users/chelsearamos/Library/Containers/net.ia.presenter/Data/Library/Application%20Support/PRESENTER_TEMP/C191ADE3-F60A-4AFA-93C0-65308993CB38-91775-0000012BAEA15398/assets/Screenshot%202025-04-09%20at%208.56.20%E2%80%AFP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3791" y="853281"/>
            <a:ext cx="6324600" cy="6591300"/>
          </a:xfrm>
          <a:prstGeom prst="rect">
            <a:avLst/>
          </a:prstGeom>
        </p:spPr>
      </p:pic>
      <p:pic>
        <p:nvPicPr>
          <p:cNvPr id="7" name="Image 1" descr="iapresenter:///Users/chelsearamos/Library/Containers/net.ia.presenter/Data/Library/Application%20Support/PRESENTER_TEMP/C191ADE3-F60A-4AFA-93C0-65308993CB38-91775-0000012BAEA15398/assets/Screenshot%202025-04-09%20at%208.59.33%E2%80%AFP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3791" y="7444581"/>
            <a:ext cx="38735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DE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347493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338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Classification Results</a:t>
            </a:r>
            <a:endParaRPr lang="en-US" sz="2338" dirty="0"/>
          </a:p>
        </p:txBody>
      </p:sp>
      <p:pic>
        <p:nvPicPr>
          <p:cNvPr id="4" name="Image 0" descr="iapresenter:///Users/chelsearamos/Library/Containers/net.ia.presenter/Data/Library/Application%20Support/PRESENTER_TEMP/C191ADE3-F60A-4AFA-93C0-65308993CB38-91775-0000012BAEA15398/assets/Screenshot%202025-04-09%20at%209.01.09%E2%80%AFPM.png">    </p:cNvPr>
          <p:cNvPicPr>
            <a:picLocks noChangeAspect="1"/>
          </p:cNvPicPr>
          <p:nvPr/>
        </p:nvPicPr>
        <p:blipFill>
          <a:blip r:embed="rId1"/>
          <a:srcRect l="-122116" r="-122116" t="0" b="0"/>
          <a:stretch/>
        </p:blipFill>
        <p:spPr>
          <a:xfrm>
            <a:off x="749300" y="1268909"/>
            <a:ext cx="7645400" cy="19660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300" y="3382169"/>
            <a:ext cx="7645400" cy="112633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2338" dirty="0"/>
          </a:p>
          <a:p>
            <a:pPr algn="l" marL="342900" indent="-342900">
              <a:buSzPct val="100000"/>
              <a:buChar char="•"/>
            </a:pPr>
            <a:r>
              <a:rPr lang="en-US" sz="2338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Logistic Regression results turned out great, almost perfect</a:t>
            </a:r>
            <a:pPr algn="l" marL="342900" indent="-342900">
              <a:buSzPct val="100000"/>
              <a:buChar char="•"/>
            </a:pPr>
            <a:endParaRPr lang="en-US" sz="233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E0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3451126" cy="3492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330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Evaluation of Results</a:t>
            </a:r>
            <a:endParaRPr lang="en-US" sz="2330" dirty="0"/>
          </a:p>
        </p:txBody>
      </p:sp>
      <p:sp>
        <p:nvSpPr>
          <p:cNvPr id="4" name="Text 1"/>
          <p:cNvSpPr/>
          <p:nvPr/>
        </p:nvSpPr>
        <p:spPr>
          <a:xfrm>
            <a:off x="749300" y="1054993"/>
            <a:ext cx="7645400" cy="303996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In-Context Learning
Zero-Shot Learning (instructions only, no examples)
Did not produce a correct conclusion, but was a great to starting point
Chain-of-Thought (include step-by-step reasoning)
Helped to reach correct conclusion for Patient #1, but produced some meandering thoughts/hallucinations
Few-Shot Learning (include example)
(Combined w/ CoT) Produced incorrect conclusion, but improved structure greatly and therefore eliminated hallucinations
Tree of Thought (evaluate multiple reasoning paths)
Helped (more than CoT) to reach correct conclusion for Patient #2
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Binary Classification w/ embeddings generated via LLM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Achieved near-perfect results w/ simple Logistic Regression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Using text embeddings reduces data cleaning and feature engineering steps greatly, but more compute time/resources are needed to generate embeddings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890786" y="1317526"/>
            <a:ext cx="7503914" cy="18967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Zero-Shot Learning (instructions only, no examples)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Did not produce a correct conclusion, but was a great to starting point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Chain-of-Thought (include step-by-step reasoning)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Helped to reach correct conclusion for Patient #1, but produced some meandering thoughts/hallucinations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Few-Shot Learning (include example)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(Combined w/ CoT) Produced incorrect conclusion, but improved structure greatly and therefore eliminated hallucinations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Tree of Thought (evaluate multiple reasoning paths)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Helped (more than CoT) to reach correct conclusion for Patient #2</a:t>
            </a:r>
            <a:endParaRPr lang="en-US" sz="936" dirty="0"/>
          </a:p>
          <a:p>
            <a:pPr algn="l" marL="342900" indent="-342900">
              <a:buSzPct val="100000"/>
              <a:buChar char="•"/>
            </a:pP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1032272" y="1537692"/>
            <a:ext cx="7362428" cy="177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Did not produce a correct conclusion, but was a great to starting point</a:t>
            </a:r>
            <a:pPr algn="l" marL="342900" indent="-342900">
              <a:buSzPct val="100000"/>
              <a:buChar char="•"/>
            </a:pPr>
            <a:endParaRPr lang="en-US" sz="936" dirty="0"/>
          </a:p>
        </p:txBody>
      </p:sp>
      <p:sp>
        <p:nvSpPr>
          <p:cNvPr id="7" name="Text 4"/>
          <p:cNvSpPr/>
          <p:nvPr/>
        </p:nvSpPr>
        <p:spPr>
          <a:xfrm>
            <a:off x="1032272" y="1978025"/>
            <a:ext cx="7362428" cy="177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Helped to reach correct conclusion for Patient #1, but produced some meandering thoughts/hallucinations</a:t>
            </a:r>
            <a:pPr algn="l" marL="342900" indent="-342900">
              <a:buSzPct val="100000"/>
              <a:buChar char="•"/>
            </a:pP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1032272" y="2418358"/>
            <a:ext cx="7362428" cy="355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(Combined w/ CoT) Produced incorrect conclusion, but improved structure greatly and therefore eliminated hallucinations</a:t>
            </a:r>
            <a:pPr algn="l" marL="342900" indent="-342900">
              <a:buSzPct val="100000"/>
              <a:buChar char="•"/>
            </a:pP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1032272" y="3036491"/>
            <a:ext cx="7362428" cy="177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Helped (more than CoT) to reach correct conclusion for Patient #2</a:t>
            </a:r>
            <a:pPr algn="l" marL="342900" indent="-342900">
              <a:buSzPct val="100000"/>
              <a:buChar char="•"/>
            </a:pP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890786" y="3476823"/>
            <a:ext cx="7503914" cy="5757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Achieved near-perfect results w/ simple Logistic Regression</a:t>
            </a:r>
            <a:pPr algn="l" marL="342900" indent="-342900">
              <a:buSzPct val="100000"/>
              <a:buChar char="•"/>
            </a:pPr>
            <a:endParaRPr lang="en-US" sz="936" dirty="0"/>
          </a:p>
          <a:p>
            <a:pPr algn="l" marL="342900" indent="-342900">
              <a:buSzPct val="100000"/>
              <a:buChar char="•"/>
            </a:pPr>
            <a:r>
              <a:rPr lang="en-US" sz="93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Using text embeddings reduces data cleaning and feature engineering steps greatly, but more compute time/resources are needed to generate embeddings</a:t>
            </a:r>
            <a:pPr algn="l" marL="342900" indent="-342900">
              <a:buSzPct val="100000"/>
              <a:buChar char="•"/>
            </a:pPr>
            <a:endParaRPr lang="en-US" sz="936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635000"/>
            <a:ext cx="5724525" cy="5397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596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Ideas for Improvement</a:t>
            </a:r>
            <a:endParaRPr lang="en-US" sz="3596" dirty="0"/>
          </a:p>
        </p:txBody>
      </p:sp>
      <p:sp>
        <p:nvSpPr>
          <p:cNvPr id="4" name="Text 1"/>
          <p:cNvSpPr/>
          <p:nvPr/>
        </p:nvSpPr>
        <p:spPr>
          <a:xfrm>
            <a:off x="749300" y="1283990"/>
            <a:ext cx="7645400" cy="297299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Try larger or medically fine-tuned LLMs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These could yield more accurate conclusions with less reliance on prompt engineering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Experiment w/ multiple LLMs (2-3)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Known as "LLM ensembling," inspired by ML ensembles, which generally produce better results than individual models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Try OpenAI APIs or similar cloud-based models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To overcome local compute limits and gain access to more powerful, scalable LLMs</a:t>
            </a:r>
            <a:endParaRPr lang="en-US" sz="1445" dirty="0"/>
          </a:p>
          <a:p>
            <a:pPr algn="l" marL="342900" indent="-342900">
              <a:buSzPct val="100000"/>
              <a:buChar char="•"/>
            </a:pPr>
            <a:endParaRPr lang="en-US" sz="1445" dirty="0"/>
          </a:p>
        </p:txBody>
      </p:sp>
      <p:sp>
        <p:nvSpPr>
          <p:cNvPr id="5" name="Text 2"/>
          <p:cNvSpPr/>
          <p:nvPr/>
        </p:nvSpPr>
        <p:spPr>
          <a:xfrm>
            <a:off x="967780" y="1694359"/>
            <a:ext cx="7426920" cy="55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These could yield more accurate conclusions with less reliance on prompt engineering</a:t>
            </a:r>
            <a:pPr algn="l" marL="342900" indent="-342900">
              <a:buSzPct val="100000"/>
              <a:buChar char="•"/>
            </a:pPr>
            <a:endParaRPr lang="en-US" sz="1445" dirty="0"/>
          </a:p>
        </p:txBody>
      </p:sp>
      <p:sp>
        <p:nvSpPr>
          <p:cNvPr id="6" name="Text 3"/>
          <p:cNvSpPr/>
          <p:nvPr/>
        </p:nvSpPr>
        <p:spPr>
          <a:xfrm>
            <a:off x="967780" y="2663527"/>
            <a:ext cx="7426920" cy="55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Known as "LLM ensembling," inspired by ML ensembles, which generally produce better results than individual models</a:t>
            </a:r>
            <a:pPr algn="l" marL="342900" indent="-342900">
              <a:buSzPct val="100000"/>
              <a:buChar char="•"/>
            </a:pPr>
            <a:endParaRPr lang="en-US" sz="1445" dirty="0"/>
          </a:p>
        </p:txBody>
      </p:sp>
      <p:sp>
        <p:nvSpPr>
          <p:cNvPr id="7" name="Text 4"/>
          <p:cNvSpPr/>
          <p:nvPr/>
        </p:nvSpPr>
        <p:spPr>
          <a:xfrm>
            <a:off x="967780" y="3632696"/>
            <a:ext cx="7426920" cy="55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marL="342900" indent="-342900">
              <a:buSzPct val="100000"/>
              <a:buChar char="•"/>
            </a:pPr>
            <a:endParaRPr lang="en-US" sz="1445" dirty="0"/>
          </a:p>
          <a:p>
            <a:pPr algn="l" marL="342900" indent="-342900">
              <a:buSzPct val="100000"/>
              <a:buChar char="•"/>
            </a:pPr>
            <a:r>
              <a:rPr lang="en-US" sz="1445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To overcome local compute limits and gain access to more powerful, scalable LLMs</a:t>
            </a:r>
            <a:pPr algn="l" marL="342900" indent="-342900">
              <a:buSzPct val="100000"/>
              <a:buChar char="•"/>
            </a:pPr>
            <a:endParaRPr lang="en-US" sz="144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E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300" y="2060575"/>
            <a:ext cx="5429746" cy="10223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772" b="1" dirty="0">
                <a:solidFill>
                  <a:srgbClr val="000000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Thank You!</a:t>
            </a:r>
            <a:endParaRPr lang="en-US" sz="677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2025-04-10T04:47:44Z</dcterms:created>
  <dcterms:modified xsi:type="dcterms:W3CDTF">2025-04-10T04:47:44Z</dcterms:modified>
</cp:coreProperties>
</file>